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year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7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 (Oct-Dec)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 (to Oct)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58.8</c:v>
                </c:pt>
                <c:pt idx="1">
                  <c:v>262</c:v>
                </c:pt>
                <c:pt idx="2">
                  <c:v>253.3</c:v>
                </c:pt>
                <c:pt idx="3">
                  <c:v>195.1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calendar month (M)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703A"/>
            </a:solidFill>
            <a:ln w="38100" cap="flat">
              <a:solidFill>
                <a:srgbClr val="E8703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703A"/>
              </a:solidFill>
              <a:ln w="9525" cap="flat">
                <a:solidFill>
                  <a:srgbClr val="E87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68.3</c:v>
                </c:pt>
                <c:pt idx="1">
                  <c:v>58.8</c:v>
                </c:pt>
                <c:pt idx="2">
                  <c:v>69</c:v>
                </c:pt>
                <c:pt idx="3">
                  <c:v>62.5</c:v>
                </c:pt>
                <c:pt idx="4">
                  <c:v>68.1</c:v>
                </c:pt>
                <c:pt idx="5">
                  <c:v>61.8</c:v>
                </c:pt>
                <c:pt idx="6">
                  <c:v>69.6</c:v>
                </c:pt>
                <c:pt idx="7">
                  <c:v>61.6</c:v>
                </c:pt>
                <c:pt idx="8">
                  <c:v>56.9</c:v>
                </c:pt>
                <c:pt idx="9">
                  <c:v>64.7</c:v>
                </c:pt>
                <c:pt idx="10">
                  <c:v>63.8</c:v>
                </c:pt>
                <c:pt idx="11">
                  <c:v>64.2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day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7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Sat</c:v>
                  </c:pt>
                  <c:pt idx="1">
                    <c:v>Mon</c:v>
                  </c:pt>
                  <c:pt idx="2">
                    <c:v>Fri</c:v>
                  </c:pt>
                  <c:pt idx="3">
                    <c:v>Tue</c:v>
                  </c:pt>
                  <c:pt idx="4">
                    <c:v>Sun</c:v>
                  </c:pt>
                  <c:pt idx="5">
                    <c:v>Thu</c:v>
                  </c:pt>
                  <c:pt idx="6">
                    <c:v>Wed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114.6</c:v>
                </c:pt>
                <c:pt idx="1">
                  <c:v>113.5</c:v>
                </c:pt>
                <c:pt idx="2">
                  <c:v>111.8</c:v>
                </c:pt>
                <c:pt idx="3">
                  <c:v>109.6</c:v>
                </c:pt>
                <c:pt idx="4">
                  <c:v>108.1</c:v>
                </c:pt>
                <c:pt idx="5">
                  <c:v>106.7</c:v>
                </c:pt>
                <c:pt idx="6">
                  <c:v>104.9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brand (M)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45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Xiaomi</c:v>
                  </c:pt>
                  <c:pt idx="1">
                    <c:v>Vivo</c:v>
                  </c:pt>
                  <c:pt idx="2">
                    <c:v>OnePlus</c:v>
                  </c:pt>
                  <c:pt idx="3">
                    <c:v>Samsung</c:v>
                  </c:pt>
                  <c:pt idx="4">
                    <c:v>Apple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143.8</c:v>
                </c:pt>
                <c:pt idx="1">
                  <c:v>150.1</c:v>
                </c:pt>
                <c:pt idx="2">
                  <c:v>153.7</c:v>
                </c:pt>
                <c:pt idx="3">
                  <c:v>160</c:v>
                </c:pt>
                <c:pt idx="4">
                  <c:v>161.6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mobile model (M)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70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Redmi 9</c:v>
                  </c:pt>
                  <c:pt idx="1">
                    <c:v>Vivo S1</c:v>
                  </c:pt>
                  <c:pt idx="2">
                    <c:v>OnePlus 9</c:v>
                  </c:pt>
                  <c:pt idx="3">
                    <c:v>OnePlus 8T</c:v>
                  </c:pt>
                  <c:pt idx="4">
                    <c:v>Redmi Note 10</c:v>
                  </c:pt>
                  <c:pt idx="5">
                    <c:v>Mi 11</c:v>
                  </c:pt>
                  <c:pt idx="6">
                    <c:v>Vivo V20</c:v>
                  </c:pt>
                  <c:pt idx="7">
                    <c:v>iPhone 12</c:v>
                  </c:pt>
                  <c:pt idx="8">
                    <c:v>Galaxy A51</c:v>
                  </c:pt>
                  <c:pt idx="9">
                    <c:v>iPhone 11</c:v>
                  </c:pt>
                  <c:pt idx="10">
                    <c:v>Galaxy S21</c:v>
                  </c:pt>
                  <c:pt idx="11">
                    <c:v>Vivo Y51</c:v>
                  </c:pt>
                  <c:pt idx="12">
                    <c:v>Galaxy Note 20</c:v>
                  </c:pt>
                  <c:pt idx="13">
                    <c:v>OnePlus Nord</c:v>
                  </c:pt>
                  <c:pt idx="14">
                    <c:v>iPhone SE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44.7</c:v>
                </c:pt>
                <c:pt idx="1">
                  <c:v>45.5</c:v>
                </c:pt>
                <c:pt idx="2">
                  <c:v>46.5</c:v>
                </c:pt>
                <c:pt idx="3">
                  <c:v>49.4</c:v>
                </c:pt>
                <c:pt idx="4">
                  <c:v>49.5</c:v>
                </c:pt>
                <c:pt idx="5">
                  <c:v>49.6</c:v>
                </c:pt>
                <c:pt idx="6">
                  <c:v>49.7</c:v>
                </c:pt>
                <c:pt idx="7">
                  <c:v>50.5</c:v>
                </c:pt>
                <c:pt idx="8">
                  <c:v>50.8</c:v>
                </c:pt>
                <c:pt idx="9">
                  <c:v>51.5</c:v>
                </c:pt>
                <c:pt idx="10">
                  <c:v>53.3</c:v>
                </c:pt>
                <c:pt idx="11">
                  <c:v>54.8</c:v>
                </c:pt>
                <c:pt idx="12">
                  <c:v>56</c:v>
                </c:pt>
                <c:pt idx="13">
                  <c:v>57.9</c:v>
                </c:pt>
                <c:pt idx="14">
                  <c:v>59.6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Top 10 cities by sales (M)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45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Gorakhpur</c:v>
                  </c:pt>
                  <c:pt idx="1">
                    <c:v>Madurai</c:v>
                  </c:pt>
                  <c:pt idx="2">
                    <c:v>Lucknow</c:v>
                  </c:pt>
                  <c:pt idx="3">
                    <c:v>Bangalore</c:v>
                  </c:pt>
                  <c:pt idx="4">
                    <c:v>Jodhpur</c:v>
                  </c:pt>
                  <c:pt idx="5">
                    <c:v>Rajkot</c:v>
                  </c:pt>
                  <c:pt idx="6">
                    <c:v>Chennai</c:v>
                  </c:pt>
                  <c:pt idx="7">
                    <c:v>Ranchi</c:v>
                  </c:pt>
                  <c:pt idx="8">
                    <c:v>Mumbai</c:v>
                  </c:pt>
                  <c:pt idx="9">
                    <c:v>Delhi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25.7</c:v>
                </c:pt>
                <c:pt idx="1">
                  <c:v>26.7</c:v>
                </c:pt>
                <c:pt idx="2">
                  <c:v>26.8</c:v>
                </c:pt>
                <c:pt idx="3">
                  <c:v>27</c:v>
                </c:pt>
                <c:pt idx="4">
                  <c:v>27.2</c:v>
                </c:pt>
                <c:pt idx="5">
                  <c:v>27.3</c:v>
                </c:pt>
                <c:pt idx="6">
                  <c:v>30.8</c:v>
                </c:pt>
                <c:pt idx="7">
                  <c:v>31</c:v>
                </c:pt>
                <c:pt idx="8">
                  <c:v>127.2</c:v>
                </c:pt>
                <c:pt idx="9">
                  <c:v>203.9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Sales share by payment method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703A"/>
              </a:solidFill>
              <a:effectLst/>
            </c:spPr>
          </c:dPt>
          <c:dPt>
            <c:idx val="1"/>
            <c:bubble3D val="0"/>
            <c:spPr>
              <a:solidFill>
                <a:srgbClr val="E8453C"/>
              </a:solidFill>
              <a:effectLst/>
            </c:spPr>
          </c:dPt>
          <c:dPt>
            <c:idx val="2"/>
            <c:bubble3D val="0"/>
            <c:spPr>
              <a:solidFill>
                <a:srgbClr val="6B3FA0"/>
              </a:solidFill>
              <a:effectLst/>
            </c:spPr>
          </c:dPt>
          <c:dPt>
            <c:idx val="3"/>
            <c:bubble3D val="0"/>
            <c:spPr>
              <a:solidFill>
                <a:srgbClr val="9A9A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Debit Card</c:v>
                </c:pt>
                <c:pt idx="2">
                  <c:v>Credit Card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26.2</c:v>
                </c:pt>
                <c:pt idx="1">
                  <c:v>25.4</c:v>
                </c:pt>
                <c:pt idx="2">
                  <c:v>24.3</c:v>
                </c:pt>
                <c:pt idx="3">
                  <c:v>24.1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22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Customer ratings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7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543</c:v>
                </c:pt>
                <c:pt idx="2">
                  <c:v>652</c:v>
                </c:pt>
                <c:pt idx="3">
                  <c:v>843</c:v>
                </c:pt>
                <c:pt idx="4">
                  <c:v>1488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/>
              </a:rPr>
              <a:t>Total sales by customer age group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45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148.4</c:v>
                </c:pt>
                <c:pt idx="1">
                  <c:v>189.2</c:v>
                </c:pt>
                <c:pt idx="2">
                  <c:v>182.1</c:v>
                </c:pt>
                <c:pt idx="3">
                  <c:v>249.5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full years of mobile sales: 9 Oct 2021 to 8 Oct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KPIs. Average price is per unit; average rating is out of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2021 covers only Oct-Dec and 2024 only Jan to 8 Oct. 2024 runs at about 21M a month, in line with 2023 (21.1M).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month adds up the same calendar month across three years. February has fewer days, which partly explains its 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sales by day of week across all three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shares of total sales. Growth is 2023 vs 2022 (full years): OnePlus +12.9%, Samsung +3.5%, Vivo -0.2%, Apple -13.7%, Xiaomi -16.5%.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top three models appear on the dashboard chart; this is the full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cities in total. The other 17 average about 3.5%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total sales by payment method. Transactions: UPI 1,011, Debit 948, Credit 947, Cash 929.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counts: 1 star 309, 2 stars 543, 3 stars 652, 4 stars 843, 5 stars 1,488. Average 3.69.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46-59 band spans 14 years versus 8-10 years for the others, which partly explains its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Sales Analysis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review: Oct 2021 to Oct 2024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trends, brands, models, cities, payments and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596896" cy="13716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07008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769M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516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73552" y="1097280"/>
            <a:ext cx="2596896" cy="13716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56432" y="1207008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456432" y="18516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89904" y="1097280"/>
            <a:ext cx="2596896" cy="13716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72784" y="1207008"/>
            <a:ext cx="22311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3,835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272784" y="18516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07208"/>
            <a:ext cx="3611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4518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unit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09160" y="269748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807208"/>
            <a:ext cx="3611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 / 5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4518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9 Oct 2021 to 8 Oct 2024  |  5 brands  |  15 models  |  19 cities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peaked in 2022 and have since levelled off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262M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the best full year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vs 2022; 2024 is flat at about 21M a month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July, March and January are the peak months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69.6M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strongest month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56.9M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weakest: a window for offers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 and Monday lead sales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114.6M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the best day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Saturday and Wednesday, the weakest day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brands share the market almost equally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leads, but only 2.3 points above Xiaomi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OnePlus grew fastest in 2023; Apple fell 13.7%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SE leads 15 closely matched models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59.6M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SE leads, followed by OnePlus Nord (57.9M)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44.7M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 9 is last; the gap is small, no single hit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and Mumbai drive 43% of sales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ma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200400" cy="300837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203.9M (26.5%)  |  Mumbai: 127.2M (16.5%)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pay every way; UPI edges ahead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118872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52160" y="12984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99339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first, with 1,011 transactions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669280" y="292608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37307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UPI and Cash (24.1%)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 ten customers rate us 4 or 5 stars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4 or 5 stars (2,331 reviews)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1 or 2 stars (852 reviews): the area to fix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aged 46 to 59 buy the most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9436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126480" y="1298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19933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come from customers aged 46-59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9436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307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ages 18-25, the smallest group: a growth chance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and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stalled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fell 3.3% from 2022; add new growth levers.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73552" y="118872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3258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cities carry sales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78308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Mumbai are 43%; push the other 17 cities.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9904" y="118872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3258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campaigns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78308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peaks at 69.6M and September dips to 56.9M; promote in September.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what is growing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OnePlus is up 12.9%; review Apple and Xiaomi declines.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73552" y="2971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low ratings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56432" y="356616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reviews are 1 or 2 stars; improve after-sales care.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2971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younger buyers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56616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18-25 give only 19% of sales; target them with UPI offers.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Sales Analysis</dc:title>
  <dc:subject>PptxGenJS Presentation</dc:subject>
  <dc:creator>PptxGenJS</dc:creator>
  <cp:lastModifiedBy>PptxGenJS</cp:lastModifiedBy>
  <cp:revision>1</cp:revision>
  <dcterms:created xsi:type="dcterms:W3CDTF">2026-10-13T14:49:43Z</dcterms:created>
  <dcterms:modified xsi:type="dcterms:W3CDTF">2026-10-13T14:49:43Z</dcterms:modified>
</cp:coreProperties>
</file>